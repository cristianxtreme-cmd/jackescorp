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9144000"/>
  <p:embeddedFontLst>
    <p:embeddedFont>
      <p:font typeface="Work Sans Medium"/>
      <p:regular r:id="rId15"/>
      <p:bold r:id="rId16"/>
      <p:italic r:id="rId17"/>
      <p:boldItalic r:id="rId18"/>
    </p:embeddedFont>
    <p:embeddedFont>
      <p:font typeface="Century Schoolbook"/>
      <p:regular r:id="rId19"/>
      <p:bold r:id="rId20"/>
      <p:italic r:id="rId21"/>
      <p:boldItalic r:id="rId22"/>
    </p:embeddedFont>
    <p:embeddedFont>
      <p:font typeface="Work Sans"/>
      <p:regular r:id="rId23"/>
      <p:bold r:id="rId24"/>
      <p:italic r:id="rId25"/>
      <p:boldItalic r:id="rId26"/>
    </p:embeddedFont>
    <p:embeddedFont>
      <p:font typeface="Work Sans Light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1" roundtripDataSignature="AMtx7miIUzdMAUpUaOkPIiNNG0cCvPTO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enturySchoolbook-bold.fntdata"/><Relationship Id="rId22" Type="http://schemas.openxmlformats.org/officeDocument/2006/relationships/font" Target="fonts/CenturySchoolbook-boldItalic.fntdata"/><Relationship Id="rId21" Type="http://schemas.openxmlformats.org/officeDocument/2006/relationships/font" Target="fonts/CenturySchoolbook-italic.fntdata"/><Relationship Id="rId24" Type="http://schemas.openxmlformats.org/officeDocument/2006/relationships/font" Target="fonts/WorkSans-bold.fntdata"/><Relationship Id="rId23" Type="http://schemas.openxmlformats.org/officeDocument/2006/relationships/font" Target="fonts/WorkSans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WorkSans-boldItalic.fntdata"/><Relationship Id="rId25" Type="http://schemas.openxmlformats.org/officeDocument/2006/relationships/font" Target="fonts/WorkSans-italic.fntdata"/><Relationship Id="rId28" Type="http://schemas.openxmlformats.org/officeDocument/2006/relationships/font" Target="fonts/WorkSansLight-bold.fntdata"/><Relationship Id="rId27" Type="http://schemas.openxmlformats.org/officeDocument/2006/relationships/font" Target="fonts/WorkSansLight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WorkSansLight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customschemas.google.com/relationships/presentationmetadata" Target="metadata"/><Relationship Id="rId30" Type="http://schemas.openxmlformats.org/officeDocument/2006/relationships/font" Target="fonts/WorkSansLight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font" Target="fonts/WorkSansMedium-regular.fntdata"/><Relationship Id="rId14" Type="http://schemas.openxmlformats.org/officeDocument/2006/relationships/slide" Target="slides/slide10.xml"/><Relationship Id="rId17" Type="http://schemas.openxmlformats.org/officeDocument/2006/relationships/font" Target="fonts/WorkSansMedium-italic.fntdata"/><Relationship Id="rId16" Type="http://schemas.openxmlformats.org/officeDocument/2006/relationships/font" Target="fonts/WorkSansMedium-bold.fntdata"/><Relationship Id="rId19" Type="http://schemas.openxmlformats.org/officeDocument/2006/relationships/font" Target="fonts/CenturySchoolbook-regular.fntdata"/><Relationship Id="rId18" Type="http://schemas.openxmlformats.org/officeDocument/2006/relationships/font" Target="fonts/WorkSansMedium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CO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" name="Google Shape;99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" name="Google Shape;11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9" name="Google Shape;11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" name="Google Shape;12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3" name="Google Shape;13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" name="Google Shape;13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" name="Google Shape;14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" name="Google Shape;15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" name="Google Shape;15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iapositiva de título">
  <p:cSld name="1_Diapositiva de título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terfaz de usuario gráfica, Texto, Aplicación&#10;&#10;Descripción generada automáticamente" id="16" name="Google Shape;16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9" name="Google Shape;29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1" name="Google Shape;41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4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24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5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5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25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25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6" name="Google Shape;56;p25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8" name="Google Shape;68;p2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2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6" name="Google Shape;76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Encabezado de sección">
  <p:cSld name="1_Encabezado de sección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27833" y="317431"/>
            <a:ext cx="811391" cy="7905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1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31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0" name="Google Shape;90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Encabezado de sección">
  <p:cSld name="2_Encabezado de sección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atrón de fondo&#10;&#10;Descripción generada automáticamente" id="94" name="Google Shape;94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54859" y="303050"/>
            <a:ext cx="855785" cy="833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/>
          <p:cNvSpPr txBox="1"/>
          <p:nvPr/>
        </p:nvSpPr>
        <p:spPr>
          <a:xfrm>
            <a:off x="995425" y="2203875"/>
            <a:ext cx="5662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s-CO" sz="5400" u="none" cap="none" strike="noStrike">
                <a:solidFill>
                  <a:srgbClr val="404040"/>
                </a:solidFill>
                <a:latin typeface="Work Sans"/>
                <a:ea typeface="Work Sans"/>
                <a:cs typeface="Work Sans"/>
                <a:sym typeface="Work Sans"/>
              </a:rPr>
              <a:t>JACKETS CORP</a:t>
            </a:r>
            <a:endParaRPr b="1" i="0" sz="5400" u="none" cap="none" strike="noStrike">
              <a:solidFill>
                <a:srgbClr val="3F3F3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1233650" y="3257475"/>
            <a:ext cx="4554300" cy="15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-CO" sz="2100" u="none" cap="none" strike="noStrike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Cristian Alexander Bayona Alzate</a:t>
            </a:r>
            <a:endParaRPr b="0" i="0" sz="2100" u="none" cap="none" strike="noStrike">
              <a:solidFill>
                <a:schemeClr val="dk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"/>
          <p:cNvSpPr txBox="1"/>
          <p:nvPr/>
        </p:nvSpPr>
        <p:spPr>
          <a:xfrm>
            <a:off x="816225" y="2644575"/>
            <a:ext cx="7167300" cy="29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0" i="0" lang="es-CO" sz="3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Desarrollar un sistema que permita registrar a los usuarios nuevos, el inventario de los productos y las ventas realizadas.</a:t>
            </a:r>
            <a:endParaRPr b="0" i="0" sz="37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08" name="Google Shape;108;p4"/>
          <p:cNvSpPr txBox="1"/>
          <p:nvPr/>
        </p:nvSpPr>
        <p:spPr>
          <a:xfrm>
            <a:off x="283029" y="12019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8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br>
              <a:rPr b="0" i="0" lang="es-CO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CO" sz="4800" u="none" cap="none" strike="noStrike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OBJETIVO GENERAL.</a:t>
            </a:r>
            <a:br>
              <a:rPr b="0" i="0" lang="es-CO" sz="96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</a:b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ágenes de Implementacion Sistema - Descarga gratuita en ..." id="109" name="Google Shape;10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1785" y="2845348"/>
            <a:ext cx="3852473" cy="2242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br>
              <a:rPr lang="es-CO" sz="3900">
                <a:solidFill>
                  <a:schemeClr val="lt1"/>
                </a:solidFill>
              </a:rPr>
            </a:br>
            <a:r>
              <a:rPr b="1" lang="es-CO" sz="3900">
                <a:solidFill>
                  <a:schemeClr val="lt1"/>
                </a:solidFill>
              </a:rPr>
              <a:t>OBJETIVOS ESPECÍFICOS.</a:t>
            </a:r>
            <a:br>
              <a:rPr lang="es-CO" sz="3900">
                <a:solidFill>
                  <a:schemeClr val="lt1"/>
                </a:solidFill>
              </a:rPr>
            </a:br>
            <a:endParaRPr sz="3900">
              <a:solidFill>
                <a:schemeClr val="lt1"/>
              </a:solidFill>
            </a:endParaRPr>
          </a:p>
        </p:txBody>
      </p:sp>
      <p:sp>
        <p:nvSpPr>
          <p:cNvPr id="115" name="Google Shape;115;p5"/>
          <p:cNvSpPr txBox="1"/>
          <p:nvPr/>
        </p:nvSpPr>
        <p:spPr>
          <a:xfrm>
            <a:off x="403225" y="1806200"/>
            <a:ext cx="6718800" cy="48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s-CO" sz="1600">
                <a:solidFill>
                  <a:schemeClr val="dk1"/>
                </a:solidFill>
              </a:rPr>
              <a:t>Implementar un módulo de inventario que permita registrar productos (chaquetas) con atributos como código, nombre, talla, color, precio, costo, stock inicial y mínimo, así como gestionar entradas, salidas, ajustes y alertas automáticas de stock bajo.</a:t>
            </a:r>
            <a:endParaRPr sz="16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s-CO" sz="1600">
                <a:solidFill>
                  <a:schemeClr val="dk1"/>
                </a:solidFill>
              </a:rPr>
              <a:t>Generar reportes gerenciales de ventas (por período), inventario (valorizado y con alertas), productos más vendidos y clientes frecuentes, con opciones de exportación a PDF y Excel</a:t>
            </a:r>
            <a:endParaRPr sz="16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s-CO" sz="1600">
                <a:solidFill>
                  <a:schemeClr val="dk1"/>
                </a:solidFill>
              </a:rPr>
              <a:t>Integrar los módulos de inventario y ventas para que cada transacción de venta refleje cambios en tiempo real sobre el stock disponible.</a:t>
            </a:r>
            <a:endParaRPr sz="16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s-CO" sz="1600">
                <a:solidFill>
                  <a:schemeClr val="dk1"/>
                </a:solidFill>
              </a:rPr>
              <a:t>Desarrollar un módulo de ventas que incluya búsqueda de productos, cálculo automático de IVA y descuentos, selección de método de pago, generación de factura electrónica en PDF y actualización inmediata del inventario.</a:t>
            </a:r>
            <a:endParaRPr sz="16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s-CO" sz="1600">
                <a:solidFill>
                  <a:schemeClr val="dk1"/>
                </a:solidFill>
              </a:rPr>
              <a:t>Migrar los datos históricos de productos, clientes y ventas desde los sistemas actuales (Excel/papel) a la nueva base de datos, asegurando integridad y consistencia.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descr="SMART GOALS: OBJETIVOS ESPECÍFICOS E INTELIGENTES" id="116" name="Google Shape;116;p5"/>
          <p:cNvPicPr preferRelativeResize="0"/>
          <p:nvPr/>
        </p:nvPicPr>
        <p:blipFill rotWithShape="1">
          <a:blip r:embed="rId3">
            <a:alphaModFix/>
          </a:blip>
          <a:srcRect b="1" l="0" r="12796" t="0"/>
          <a:stretch/>
        </p:blipFill>
        <p:spPr>
          <a:xfrm>
            <a:off x="7429975" y="2067163"/>
            <a:ext cx="4634275" cy="39806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ombre de negocios con el concepto de problema Reflexión de signo de  interrogación | Vector Premium" id="121" name="Google Shape;121;p2"/>
          <p:cNvPicPr preferRelativeResize="0"/>
          <p:nvPr/>
        </p:nvPicPr>
        <p:blipFill rotWithShape="1">
          <a:blip r:embed="rId3">
            <a:alphaModFix/>
          </a:blip>
          <a:srcRect b="-344" l="26974" r="25000" t="0"/>
          <a:stretch/>
        </p:blipFill>
        <p:spPr>
          <a:xfrm>
            <a:off x="10072778" y="2431212"/>
            <a:ext cx="2112096" cy="441166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"/>
          <p:cNvSpPr txBox="1"/>
          <p:nvPr/>
        </p:nvSpPr>
        <p:spPr>
          <a:xfrm>
            <a:off x="635743" y="2353681"/>
            <a:ext cx="88779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O" sz="2400" u="none" cap="none" strike="noStrike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Jackes Corp es una empresa dedicada a la fabricación y venta de chaquetas, pero últimamente gestionan el inventario y las ventas de forma manual.</a:t>
            </a:r>
            <a:endParaRPr b="0" i="0" sz="2400" u="none" cap="none" strike="noStrike">
              <a:solidFill>
                <a:schemeClr val="dk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O" sz="2400" u="none" cap="none" strike="noStrike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Por ende les a dificultado ciertos procesos de venta y registro de los productos.</a:t>
            </a:r>
            <a:endParaRPr b="0" i="0" sz="2400" u="none" cap="none" strike="noStrike">
              <a:solidFill>
                <a:schemeClr val="dk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sp>
        <p:nvSpPr>
          <p:cNvPr id="123" name="Google Shape;123;p2"/>
          <p:cNvSpPr txBox="1"/>
          <p:nvPr/>
        </p:nvSpPr>
        <p:spPr>
          <a:xfrm>
            <a:off x="296175" y="1512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8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br>
              <a:rPr b="0" i="0" lang="es-CO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CO" sz="4800" u="none" cap="none" strike="noStrike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PLANTEAMIENTO DEL PROBLEMA.</a:t>
            </a:r>
            <a:br>
              <a:rPr b="0" i="0" lang="es-CO" sz="96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</a:b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"/>
          <p:cNvSpPr txBox="1"/>
          <p:nvPr/>
        </p:nvSpPr>
        <p:spPr>
          <a:xfrm>
            <a:off x="839449" y="1837983"/>
            <a:ext cx="7240200" cy="45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O" sz="3600" u="none" cap="none" strike="noStrike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¿Cómo implementar un sistema de gestión de inventario y ventas para Jackes Corp que optimice el control de stock, agilice los procesos de venta y mejore la toma de decisiones estratégicas?</a:t>
            </a:r>
            <a:endParaRPr b="0" i="0" sz="3600" u="none" cap="none" strike="noStrike">
              <a:solidFill>
                <a:schemeClr val="dk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sp>
        <p:nvSpPr>
          <p:cNvPr id="129" name="Google Shape;129;p3"/>
          <p:cNvSpPr txBox="1"/>
          <p:nvPr/>
        </p:nvSpPr>
        <p:spPr>
          <a:xfrm>
            <a:off x="219768" y="12882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750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br>
              <a:rPr b="0" i="0" lang="es-CO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CO" sz="5400" u="none" cap="none" strike="noStrike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PREGUNTA PROBLEMA.</a:t>
            </a:r>
            <a:br>
              <a:rPr b="0" i="0" lang="es-CO" sz="96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</a:b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ágenes de Detectar Problema - Descarga gratuita en Freepik" id="130" name="Google Shape;13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5164" y="2599074"/>
            <a:ext cx="3002094" cy="30020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"/>
          <p:cNvSpPr txBox="1"/>
          <p:nvPr>
            <p:ph type="title"/>
          </p:nvPr>
        </p:nvSpPr>
        <p:spPr>
          <a:xfrm>
            <a:off x="283029" y="12019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Work Sans Medium"/>
              <a:buNone/>
            </a:pPr>
            <a:br>
              <a:rPr b="1" lang="es-CO" sz="3600">
                <a:latin typeface="Work Sans Medium"/>
                <a:ea typeface="Work Sans Medium"/>
                <a:cs typeface="Work Sans Medium"/>
                <a:sym typeface="Work Sans Medium"/>
              </a:rPr>
            </a:br>
            <a:r>
              <a:rPr b="1" lang="es-CO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JUSTIFICACIÓN.</a:t>
            </a:r>
            <a:br>
              <a:rPr lang="es-CO" sz="9600">
                <a:latin typeface="Work Sans Light"/>
                <a:ea typeface="Work Sans Light"/>
                <a:cs typeface="Work Sans Light"/>
                <a:sym typeface="Work Sans Light"/>
              </a:rPr>
            </a:br>
            <a:endParaRPr/>
          </a:p>
        </p:txBody>
      </p:sp>
      <p:sp>
        <p:nvSpPr>
          <p:cNvPr id="136" name="Google Shape;136;p7"/>
          <p:cNvSpPr txBox="1"/>
          <p:nvPr/>
        </p:nvSpPr>
        <p:spPr>
          <a:xfrm>
            <a:off x="838200" y="1820550"/>
            <a:ext cx="10515600" cy="31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-CO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Jackes Corp requiere un sistema que les optimice los procesos de registro y venta de los productos, para evitar pérdidas y que permita monitorear los procesos para así facilitar el crecimiento de la empresa y mejorar la agilidad y la experiencia de los clientes.</a:t>
            </a:r>
            <a:endParaRPr b="0" i="0" sz="2800" u="none" cap="none" strike="noStrike">
              <a:solidFill>
                <a:schemeClr val="dk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"/>
          <p:cNvSpPr txBox="1"/>
          <p:nvPr>
            <p:ph type="title"/>
          </p:nvPr>
        </p:nvSpPr>
        <p:spPr>
          <a:xfrm>
            <a:off x="283029" y="12019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Work Sans Medium"/>
              <a:buNone/>
            </a:pPr>
            <a:br>
              <a:rPr b="1" lang="es-CO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</a:br>
            <a:r>
              <a:rPr b="1" lang="es-CO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Alcance y delimitación del proyecto.</a:t>
            </a:r>
            <a:br>
              <a:rPr lang="es-CO" sz="9600">
                <a:latin typeface="Century Schoolbook"/>
                <a:ea typeface="Century Schoolbook"/>
                <a:cs typeface="Century Schoolbook"/>
                <a:sym typeface="Century Schoolbook"/>
              </a:rPr>
            </a:br>
            <a:endParaRPr/>
          </a:p>
        </p:txBody>
      </p:sp>
      <p:sp>
        <p:nvSpPr>
          <p:cNvPr id="142" name="Google Shape;142;p8"/>
          <p:cNvSpPr txBox="1"/>
          <p:nvPr/>
        </p:nvSpPr>
        <p:spPr>
          <a:xfrm>
            <a:off x="1047750" y="1977300"/>
            <a:ext cx="10096500" cy="3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CO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Alcance: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CO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sistema para Jackes Corp abordará el módulo de inventario (registro de chaquetas por talla, color y precio, con alertas de stock mínimo) y el módulo de ventas (historial de clientes y actualización automática de inventario).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CO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Delimitación: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CO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Quedan fuera del proyecto la gestión de producción, envíos, pagos en línea y contabilidad general, así como integraciones con ERP externos. El sistema se limitará a ventas presenciales o por catálogo digital.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"/>
          <p:cNvSpPr txBox="1"/>
          <p:nvPr/>
        </p:nvSpPr>
        <p:spPr>
          <a:xfrm>
            <a:off x="283029" y="12019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Work Sans Medium"/>
              <a:buNone/>
            </a:pPr>
            <a:br>
              <a:rPr b="1" i="0" lang="es-CO" sz="3600" u="none" cap="none" strike="noStrike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</a:br>
            <a:r>
              <a:rPr b="1" i="0" lang="es-CO" sz="4400" u="none" cap="none" strike="noStrike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REQUISITOS FUNCIONALES.</a:t>
            </a:r>
            <a:br>
              <a:rPr b="0" i="0" lang="es-CO" sz="96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</a:b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0"/>
          <p:cNvSpPr txBox="1"/>
          <p:nvPr/>
        </p:nvSpPr>
        <p:spPr>
          <a:xfrm>
            <a:off x="1924800" y="1772325"/>
            <a:ext cx="83424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CO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1. Módulo de inventario</a:t>
            </a:r>
            <a:endParaRPr b="1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b="0" i="0" lang="es-CO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RF - INV01 Añadir chaquetas al inventario con datos: código, modelo, talla, color, precio, costo y stock inicial.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b="0" i="0" lang="es-CO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RF - INV02 Modificar cantidades de stock (entradas por compras/salidas por ventas o devoluciones).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b="0" i="0" lang="es-CO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RF - INV03 Buscar productos por nombre, modelo, talla o color, con filtros avanzados.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b="0" i="0" lang="es-CO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RF - INV04 Notificar cuando el stock sea menor al mínimo de 10 unidades.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b="0" i="0" lang="es-CO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RF - INV05 Registrar y visualizar cambios en el inventario (fecha, usuario, tipo de movimiento).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CO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Modulo de ventas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b="0" i="0" lang="es-CO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RF - VE01 Crear facturas con datos del cliente, productos vendidos, cantidades, precios.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b="0" i="0" lang="es-CO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RF - VE02 Reducir el stock de chaquetas vendidas al confirmar la venta.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b="0" i="0" lang="es-CO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RF - VE03 Registrar y consultar datos básicos de clientes.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b="0" i="0" lang="es-CO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RF - VE04 Registrar devoluciones y reingresar productos al inventario con justificación.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5"/>
          <p:cNvSpPr txBox="1"/>
          <p:nvPr>
            <p:ph type="title"/>
          </p:nvPr>
        </p:nvSpPr>
        <p:spPr>
          <a:xfrm>
            <a:off x="-2628" y="-273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Work Sans Medium"/>
              <a:buNone/>
            </a:pPr>
            <a:r>
              <a:rPr b="1" lang="es-CO" sz="40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REQUISITOS NO FUNCIONALES.</a:t>
            </a:r>
            <a:endParaRPr sz="40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sp>
        <p:nvSpPr>
          <p:cNvPr id="154" name="Google Shape;154;p15"/>
          <p:cNvSpPr txBox="1"/>
          <p:nvPr/>
        </p:nvSpPr>
        <p:spPr>
          <a:xfrm>
            <a:off x="379640" y="1532388"/>
            <a:ext cx="11432700" cy="44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CO">
                <a:solidFill>
                  <a:schemeClr val="dk1"/>
                </a:solidFill>
              </a:rPr>
              <a:t>Rendimiento: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O">
                <a:solidFill>
                  <a:schemeClr val="dk1"/>
                </a:solidFill>
              </a:rPr>
              <a:t>-Tiempo de respuesta para consultas de productos ≤ 2 segundos.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O">
                <a:solidFill>
                  <a:schemeClr val="dk1"/>
                </a:solidFill>
              </a:rPr>
              <a:t>-Tiempo de respuesta para registrar una venta ≤ 3 segundos.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O">
                <a:solidFill>
                  <a:schemeClr val="dk1"/>
                </a:solidFill>
              </a:rPr>
              <a:t>-Soporte para al menos 50 usuarios concurrentes sin degradación.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O">
                <a:solidFill>
                  <a:schemeClr val="dk1"/>
                </a:solidFill>
              </a:rPr>
              <a:t>-Sincronización de datos offline en la app móvil ≤ 10 segundos</a:t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CO">
                <a:solidFill>
                  <a:schemeClr val="dk1"/>
                </a:solidFill>
              </a:rPr>
              <a:t>Seguridad: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O">
                <a:solidFill>
                  <a:schemeClr val="dk1"/>
                </a:solidFill>
              </a:rPr>
              <a:t>-Almacenamiento de contraseñas con hash (bcrypt).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O">
                <a:solidFill>
                  <a:schemeClr val="dk1"/>
                </a:solidFill>
              </a:rPr>
              <a:t>-Comunicaciones mediante HTTPS con certificado SSL válido.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O">
                <a:solidFill>
                  <a:schemeClr val="dk1"/>
                </a:solidFill>
              </a:rPr>
              <a:t>-Control de acceso basado en roles (administrador, vendedor, encargado de inventario).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O">
                <a:solidFill>
                  <a:schemeClr val="dk1"/>
                </a:solidFill>
              </a:rPr>
              <a:t>-Bloqueo </a:t>
            </a:r>
            <a:r>
              <a:rPr b="1" lang="es-CO">
                <a:solidFill>
                  <a:schemeClr val="dk1"/>
                </a:solidFill>
              </a:rPr>
              <a:t>d</a:t>
            </a:r>
            <a:r>
              <a:rPr b="1" lang="es-CO">
                <a:solidFill>
                  <a:schemeClr val="dk1"/>
                </a:solidFill>
              </a:rPr>
              <a:t>e cuenta tras 3 intentos fallidos de inicio de sesión (15 minutos).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O">
                <a:solidFill>
                  <a:schemeClr val="dk1"/>
                </a:solidFill>
              </a:rPr>
              <a:t>-Registro de logs para acciones críticas (inicios de sesión, modificaciones de stock, ventas).</a:t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CO">
                <a:solidFill>
                  <a:schemeClr val="dk1"/>
                </a:solidFill>
              </a:rPr>
              <a:t>Confiabilidad: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O">
                <a:solidFill>
                  <a:schemeClr val="dk1"/>
                </a:solidFill>
              </a:rPr>
              <a:t>-Transacciones atómicas (todo o nada) para garantizar consistencia en ventas y actualización de stock.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O">
                <a:solidFill>
                  <a:schemeClr val="dk1"/>
                </a:solidFill>
              </a:rPr>
              <a:t>-Recuperación ante fallos sin pérdida de datos.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O">
                <a:solidFill>
                  <a:schemeClr val="dk1"/>
                </a:solidFill>
              </a:rPr>
              <a:t>-Tasa de fallos ≤ 1% del total de transacciones.</a:t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CO">
                <a:solidFill>
                  <a:schemeClr val="dk1"/>
                </a:solidFill>
              </a:rPr>
              <a:t>Portabilidad: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O">
                <a:solidFill>
                  <a:schemeClr val="dk1"/>
                </a:solidFill>
              </a:rPr>
              <a:t>-Compatibilidad con navegadores Chrome 90+, Firefox 88+, Edge 90+, Safari 14+.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O">
                <a:solidFill>
                  <a:schemeClr val="dk1"/>
                </a:solidFill>
              </a:rPr>
              <a:t>-Aplicación móvil funcional en Android 8.0+ y iOS 12+.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O">
                <a:solidFill>
                  <a:schemeClr val="dk1"/>
                </a:solidFill>
              </a:rPr>
              <a:t>-Capacidad de despliegue en servidores Linux (Ubuntu 20.04+) o Windows Server.</a:t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n que contiene Interfaz de usuario gráfica&#10;&#10;Descripción generada automáticamente" id="159" name="Google Shape;15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2020-10-01T23:51:28Z</dcterms:created>
  <dc:creator>Jorge Enrique Pedraza Sanchez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299739c-ad3d-4908-806e-4d91151a6e13_Enabled">
    <vt:lpwstr>true</vt:lpwstr>
  </property>
  <property fmtid="{D5CDD505-2E9C-101B-9397-08002B2CF9AE}" pid="3" name="MSIP_Label_1299739c-ad3d-4908-806e-4d91151a6e13_Method">
    <vt:lpwstr>Standard</vt:lpwstr>
  </property>
  <property fmtid="{D5CDD505-2E9C-101B-9397-08002B2CF9AE}" pid="4" name="MSIP_Label_1299739c-ad3d-4908-806e-4d91151a6e13_Name">
    <vt:lpwstr>All Employees (Unrestricted)</vt:lpwstr>
  </property>
  <property fmtid="{D5CDD505-2E9C-101B-9397-08002B2CF9AE}" pid="5" name="MSIP_Label_1299739c-ad3d-4908-806e-4d91151a6e13_SiteId">
    <vt:lpwstr>cbc2c381-2f2e-4d93-91d1-506c9316ace7</vt:lpwstr>
  </property>
  <property fmtid="{D5CDD505-2E9C-101B-9397-08002B2CF9AE}" pid="6" name="MSIP_Label_1299739c-ad3d-4908-806e-4d91151a6e13_ContentBits">
    <vt:lpwstr>0</vt:lpwstr>
  </property>
  <property fmtid="{D5CDD505-2E9C-101B-9397-08002B2CF9AE}" pid="7" name="MSIP_Label_1299739c-ad3d-4908-806e-4d91151a6e13_SetDate">
    <vt:lpwstr>2022-08-12T19:17:55Z</vt:lpwstr>
  </property>
  <property fmtid="{D5CDD505-2E9C-101B-9397-08002B2CF9AE}" pid="8" name="MSIP_Label_1299739c-ad3d-4908-806e-4d91151a6e13_ActionId">
    <vt:lpwstr>8c6bc714-34a9-4b82-914e-50b1377a2da4</vt:lpwstr>
  </property>
</Properties>
</file>