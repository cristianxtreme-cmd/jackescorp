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Work Sans Medium"/>
      <p:regular r:id="rId15"/>
      <p:bold r:id="rId16"/>
      <p:italic r:id="rId17"/>
      <p:boldItalic r:id="rId18"/>
    </p:embeddedFont>
    <p:embeddedFont>
      <p:font typeface="Century Schoolbook"/>
      <p:regular r:id="rId19"/>
      <p:bold r:id="rId20"/>
      <p:italic r:id="rId21"/>
      <p:boldItalic r:id="rId22"/>
    </p:embeddedFont>
    <p:embeddedFont>
      <p:font typeface="Work Sans"/>
      <p:regular r:id="rId23"/>
      <p:bold r:id="rId24"/>
      <p:italic r:id="rId25"/>
      <p:boldItalic r:id="rId26"/>
    </p:embeddedFont>
    <p:embeddedFont>
      <p:font typeface="Work Sans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jzey/8LcNM+Od0e5/G7czjdw31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Schoolbook-bold.fntdata"/><Relationship Id="rId22" Type="http://schemas.openxmlformats.org/officeDocument/2006/relationships/font" Target="fonts/CenturySchoolbook-boldItalic.fntdata"/><Relationship Id="rId21" Type="http://schemas.openxmlformats.org/officeDocument/2006/relationships/font" Target="fonts/CenturySchoolbook-italic.fntdata"/><Relationship Id="rId24" Type="http://schemas.openxmlformats.org/officeDocument/2006/relationships/font" Target="fonts/WorkSans-bold.fntdata"/><Relationship Id="rId23" Type="http://schemas.openxmlformats.org/officeDocument/2006/relationships/font" Target="fonts/Work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WorkSans-boldItalic.fntdata"/><Relationship Id="rId25" Type="http://schemas.openxmlformats.org/officeDocument/2006/relationships/font" Target="fonts/WorkSans-italic.fntdata"/><Relationship Id="rId28" Type="http://schemas.openxmlformats.org/officeDocument/2006/relationships/font" Target="fonts/WorkSansLight-bold.fntdata"/><Relationship Id="rId27" Type="http://schemas.openxmlformats.org/officeDocument/2006/relationships/font" Target="fonts/WorkSansLight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WorkSansLigh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WorkSansLigh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WorkSansMedium-regular.fntdata"/><Relationship Id="rId14" Type="http://schemas.openxmlformats.org/officeDocument/2006/relationships/slide" Target="slides/slide10.xml"/><Relationship Id="rId17" Type="http://schemas.openxmlformats.org/officeDocument/2006/relationships/font" Target="fonts/WorkSansMedium-italic.fntdata"/><Relationship Id="rId16" Type="http://schemas.openxmlformats.org/officeDocument/2006/relationships/font" Target="fonts/WorkSansMedium-bold.fntdata"/><Relationship Id="rId19" Type="http://schemas.openxmlformats.org/officeDocument/2006/relationships/font" Target="fonts/CenturySchoolbook-regular.fntdata"/><Relationship Id="rId18" Type="http://schemas.openxmlformats.org/officeDocument/2006/relationships/font" Target="fonts/WorkSans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iapositiva de título">
  <p:cSld name="1_Diapositiva de títul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nterfaz de usuario gráfica, Texto, Aplicación&#10;&#10;Descripción generada automáticamente" id="16" name="Google Shape;16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8" name="Google Shape;68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Encabezado de sección">
  <p:cSld name="1_Encabezado de sección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27833" y="317431"/>
            <a:ext cx="811391" cy="790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Encabezado de sección">
  <p:cSld name="2_Encabezado de secció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trón de fondo&#10;&#10;Descripción generada automáticamente" id="94" name="Google Shape;94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54859" y="303050"/>
            <a:ext cx="855785" cy="83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995425" y="2203875"/>
            <a:ext cx="566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lang="es-CO" sz="5400">
                <a:solidFill>
                  <a:srgbClr val="404040"/>
                </a:solidFill>
                <a:latin typeface="Work Sans"/>
                <a:ea typeface="Work Sans"/>
                <a:cs typeface="Work Sans"/>
                <a:sym typeface="Work Sans"/>
              </a:rPr>
              <a:t>JACKETS CORP</a:t>
            </a:r>
            <a:endParaRPr b="1" i="0" sz="5400" u="none" cap="none" strike="noStrike">
              <a:solidFill>
                <a:srgbClr val="3F3F3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233650" y="3257475"/>
            <a:ext cx="4554300" cy="15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O" sz="21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Cristian Alexander Bayona Alzate</a:t>
            </a:r>
            <a:endParaRPr b="0" i="0" sz="21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816225" y="2644575"/>
            <a:ext cx="7167300" cy="29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0" i="0" lang="es-CO" sz="3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 sistema </a:t>
            </a:r>
            <a:r>
              <a:rPr lang="es-CO" sz="3700"/>
              <a:t>que permita registrar a los usuarios nuevos, el inventario de los productos y las ventas realizadas.</a:t>
            </a:r>
            <a:endParaRPr b="0" i="0" sz="37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08" name="Google Shape;108;p4"/>
          <p:cNvSpPr txBox="1"/>
          <p:nvPr/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48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OBJETIVO GENERAL.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ágenes de Implementacion Sistema - Descarga gratuita en ..."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1785" y="2845348"/>
            <a:ext cx="3852473" cy="2242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br>
              <a:rPr lang="es-CO" sz="3900">
                <a:solidFill>
                  <a:schemeClr val="lt1"/>
                </a:solidFill>
              </a:rPr>
            </a:br>
            <a:r>
              <a:rPr b="1" lang="es-CO" sz="3900">
                <a:solidFill>
                  <a:schemeClr val="lt1"/>
                </a:solidFill>
              </a:rPr>
              <a:t>OBJETIVOS ESPECÍFICOS.</a:t>
            </a:r>
            <a:br>
              <a:rPr lang="es-CO" sz="3900">
                <a:solidFill>
                  <a:schemeClr val="lt1"/>
                </a:solidFill>
              </a:rPr>
            </a:br>
            <a:endParaRPr sz="3900">
              <a:solidFill>
                <a:schemeClr val="lt1"/>
              </a:solidFill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838200" y="1881200"/>
            <a:ext cx="6095100" cy="34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Implementar un modulo de inventario que registre la entrada y salida de los productos y una alerta de stock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Diseñar un modulo de venta que muestre los diferentes medios o formas de pago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MART GOALS: OBJETIVOS ESPECÍFICOS E INTELIGENTES" id="116" name="Google Shape;116;p5"/>
          <p:cNvPicPr preferRelativeResize="0"/>
          <p:nvPr/>
        </p:nvPicPr>
        <p:blipFill rotWithShape="1">
          <a:blip r:embed="rId3">
            <a:alphaModFix/>
          </a:blip>
          <a:srcRect b="1" l="0" r="12796" t="0"/>
          <a:stretch/>
        </p:blipFill>
        <p:spPr>
          <a:xfrm>
            <a:off x="7082000" y="2067163"/>
            <a:ext cx="4634275" cy="398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ombre de negocios con el concepto de problema Reflexión de signo de  interrogación | Vector Premium" id="121" name="Google Shape;121;p2"/>
          <p:cNvPicPr preferRelativeResize="0"/>
          <p:nvPr/>
        </p:nvPicPr>
        <p:blipFill rotWithShape="1">
          <a:blip r:embed="rId3">
            <a:alphaModFix/>
          </a:blip>
          <a:srcRect b="-344" l="26974" r="25000" t="0"/>
          <a:stretch/>
        </p:blipFill>
        <p:spPr>
          <a:xfrm>
            <a:off x="10072778" y="2431212"/>
            <a:ext cx="2112096" cy="441166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635743" y="2353681"/>
            <a:ext cx="88779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Jackes Corp es una empresa dedicada a la 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fabricación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y venta de chaquetas, pero 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últimamente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gestionan el inventario y las ventas de forma manual.</a:t>
            </a:r>
            <a:endParaRPr sz="240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Por ende les a 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dificultado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ciertos</a:t>
            </a:r>
            <a:r>
              <a:rPr lang="es-CO" sz="24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 procesos de venta y registro de los productos.</a:t>
            </a:r>
            <a:endParaRPr sz="2400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296175" y="151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48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PLANTEAMIENTO DEL PROBLEMA.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"/>
          <p:cNvSpPr txBox="1"/>
          <p:nvPr/>
        </p:nvSpPr>
        <p:spPr>
          <a:xfrm>
            <a:off x="839449" y="1837983"/>
            <a:ext cx="72402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s-CO" sz="3600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¿Cómo implementar un sistema de gestión de inventario y ventas para Jackes Corp que optimice el control de stock, agilice los procesos de venta y mejore la toma de decisiones estratégicas?</a:t>
            </a:r>
            <a:endParaRPr b="0" i="0" sz="36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219768" y="1288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5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b="0" i="0" lang="es-CO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CO" sz="5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PREGUNTA PROBLEMA.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ágenes de Detectar Problema - Descarga gratuita en Freepik" id="130" name="Google Shape;13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5164" y="2599074"/>
            <a:ext cx="3002094" cy="30020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>
            <p:ph type="title"/>
          </p:nvPr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ork Sans Medium"/>
              <a:buNone/>
            </a:pPr>
            <a:br>
              <a:rPr b="1" lang="es-CO" sz="3600"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JUSTIFICACIÓN.</a:t>
            </a:r>
            <a:br>
              <a:rPr lang="es-CO" sz="9600">
                <a:latin typeface="Work Sans Light"/>
                <a:ea typeface="Work Sans Light"/>
                <a:cs typeface="Work Sans Light"/>
                <a:sym typeface="Work Sans Light"/>
              </a:rPr>
            </a:b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838200" y="1820550"/>
            <a:ext cx="105156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s-CO" sz="2800"/>
              <a:t>Jackes Corp requiere un sistema que les optimice los procesos de registro y venta de los productos, para evitar </a:t>
            </a:r>
            <a:r>
              <a:rPr lang="es-CO" sz="2800"/>
              <a:t>pérdidas</a:t>
            </a:r>
            <a:r>
              <a:rPr lang="es-CO" sz="2800"/>
              <a:t> y que permita </a:t>
            </a:r>
            <a:r>
              <a:rPr lang="es-CO" sz="2800"/>
              <a:t>monitorear</a:t>
            </a:r>
            <a:r>
              <a:rPr lang="es-CO" sz="2800"/>
              <a:t> los procesos para </a:t>
            </a:r>
            <a:r>
              <a:rPr lang="es-CO" sz="2800"/>
              <a:t>así</a:t>
            </a:r>
            <a:r>
              <a:rPr lang="es-CO" sz="2800"/>
              <a:t> facilitar el crecimiento de la empresa y mejorar la agilidad y la experiencia de los clientes.</a:t>
            </a:r>
            <a:endParaRPr b="0" i="0" sz="2800" u="none" cap="none" strike="noStrike">
              <a:solidFill>
                <a:schemeClr val="dk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Work Sans Medium"/>
              <a:buNone/>
            </a:pPr>
            <a:b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lang="es-CO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Alcance y delimitación del proyecto.</a:t>
            </a:r>
            <a:br>
              <a:rPr lang="es-CO" sz="9600">
                <a:latin typeface="Century Schoolbook"/>
                <a:ea typeface="Century Schoolbook"/>
                <a:cs typeface="Century Schoolbook"/>
                <a:sym typeface="Century Schoolbook"/>
              </a:rPr>
            </a:br>
            <a:endParaRPr/>
          </a:p>
        </p:txBody>
      </p:sp>
      <p:sp>
        <p:nvSpPr>
          <p:cNvPr id="142" name="Google Shape;142;p8"/>
          <p:cNvSpPr txBox="1"/>
          <p:nvPr/>
        </p:nvSpPr>
        <p:spPr>
          <a:xfrm>
            <a:off x="1047750" y="1977300"/>
            <a:ext cx="10096500" cy="3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Alcance: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El sistema para Jackes Corp </a:t>
            </a:r>
            <a:r>
              <a:rPr lang="es-CO" sz="2300">
                <a:solidFill>
                  <a:schemeClr val="dk1"/>
                </a:solidFill>
              </a:rPr>
              <a:t>abordará</a:t>
            </a:r>
            <a:r>
              <a:rPr lang="es-CO" sz="2300">
                <a:solidFill>
                  <a:schemeClr val="dk1"/>
                </a:solidFill>
              </a:rPr>
              <a:t> el módulo de inventario (registro de chaquetas por talla, color y precio, con alertas de stock mínimo) y el módulo de ventas (historial de clientes y actualización automática de inventario).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Delimitación</a:t>
            </a:r>
            <a:r>
              <a:rPr lang="es-CO" sz="2300">
                <a:solidFill>
                  <a:schemeClr val="dk1"/>
                </a:solidFill>
              </a:rPr>
              <a:t>:</a:t>
            </a:r>
            <a:endParaRPr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O" sz="2300">
                <a:solidFill>
                  <a:schemeClr val="dk1"/>
                </a:solidFill>
              </a:rPr>
              <a:t>Quedan fuera del proyecto la gestión de producción, envíos, pagos en línea y contabilidad general, así como integraciones con ERP externos. El sistema se limitará a ventas presenciales o por catálogo digital.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"/>
          <p:cNvSpPr txBox="1"/>
          <p:nvPr/>
        </p:nvSpPr>
        <p:spPr>
          <a:xfrm>
            <a:off x="283029" y="1201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Work Sans Medium"/>
              <a:buNone/>
            </a:pPr>
            <a:br>
              <a:rPr b="1" i="0" lang="es-CO" sz="3600" u="none" cap="none" strike="noStrike">
                <a:solidFill>
                  <a:schemeClr val="dk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</a:br>
            <a:r>
              <a:rPr b="1" i="0" lang="es-CO" sz="4400" u="none" cap="none" strike="noStrike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FUNCIONALES.</a:t>
            </a:r>
            <a:br>
              <a:rPr b="0" i="0" lang="es-CO" sz="9600" u="none" cap="none" strike="noStrike">
                <a:solidFill>
                  <a:schemeClr val="dk1"/>
                </a:solidFill>
                <a:latin typeface="Work Sans Light"/>
                <a:ea typeface="Work Sans Light"/>
                <a:cs typeface="Work Sans Light"/>
                <a:sym typeface="Work Sans Light"/>
              </a:rPr>
            </a:b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 txBox="1"/>
          <p:nvPr/>
        </p:nvSpPr>
        <p:spPr>
          <a:xfrm>
            <a:off x="1924800" y="1772325"/>
            <a:ext cx="83424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 Módulo de </a:t>
            </a:r>
            <a:r>
              <a:rPr b="1" lang="es-CO" sz="1500">
                <a:solidFill>
                  <a:schemeClr val="dk1"/>
                </a:solidFill>
              </a:rPr>
              <a:t>inventario</a:t>
            </a:r>
            <a:endParaRPr b="1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s-C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INV01 Añadir chaquetas al inventario con datos: código, modelo, talla, color, precio, costo y stock inicial.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INV02 Modificar cantidades de stock (entradas por compras/salidas por ventas o devoluciones).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INV03 Buscar productos por nombre, modelo, talla o color, con filtros avanzados.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INV04 Notificar cuando el stock sea menor al mínimo de 10 unidades.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O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 - INV05 Registrar y visualizar cambios en el inventario (fecha, usuario, tipo de movimiento).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500">
                <a:solidFill>
                  <a:schemeClr val="dk1"/>
                </a:solidFill>
              </a:rPr>
              <a:t>2. Modulo de ventas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s-CO" sz="1500">
                <a:solidFill>
                  <a:schemeClr val="dk1"/>
                </a:solidFill>
              </a:rPr>
              <a:t>RF - VE01 Crear facturas con datos del cliente, productos vendidos, cantidades, precios.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O" sz="1500">
                <a:solidFill>
                  <a:schemeClr val="dk1"/>
                </a:solidFill>
              </a:rPr>
              <a:t>RF - VE02 Reducir el stock de chaquetas vendidas al confirmar la venta.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O" sz="1500">
                <a:solidFill>
                  <a:schemeClr val="dk1"/>
                </a:solidFill>
              </a:rPr>
              <a:t>RF - VE03 Registrar y consultar datos básicos de clientes.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s-CO" sz="1500">
                <a:solidFill>
                  <a:schemeClr val="dk1"/>
                </a:solidFill>
              </a:rPr>
              <a:t>RF - VE04 Registrar devoluciones y reingresar productos al inventario con justificación.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/>
          <p:nvPr>
            <p:ph type="title"/>
          </p:nvPr>
        </p:nvSpPr>
        <p:spPr>
          <a:xfrm>
            <a:off x="-2628" y="-27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Work Sans Medium"/>
              <a:buNone/>
            </a:pPr>
            <a:r>
              <a:rPr b="1" lang="es-CO" sz="4000">
                <a:solidFill>
                  <a:schemeClr val="lt1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REQUISITOS NO FUNCIONALES.</a:t>
            </a:r>
            <a:endParaRPr sz="4000">
              <a:solidFill>
                <a:schemeClr val="lt1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379640" y="1532388"/>
            <a:ext cx="11432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2000">
                <a:solidFill>
                  <a:schemeClr val="dk1"/>
                </a:solidFill>
              </a:rPr>
              <a:t>Usabilidad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O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RNF-01:  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2000">
                <a:solidFill>
                  <a:schemeClr val="dk1"/>
                </a:solidFill>
              </a:rPr>
              <a:t>RNF-02: 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2000">
                <a:solidFill>
                  <a:schemeClr val="dk1"/>
                </a:solidFill>
              </a:rPr>
              <a:t>Rendimiento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O" sz="2000">
                <a:solidFill>
                  <a:schemeClr val="dk1"/>
                </a:solidFill>
              </a:rPr>
              <a:t>Seguridad</a:t>
            </a:r>
            <a:endParaRPr b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Interfaz de usuario gráfica&#10;&#10;Descripción generada automáticamente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